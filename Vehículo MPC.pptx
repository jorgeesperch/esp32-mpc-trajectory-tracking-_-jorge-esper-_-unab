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6" r:id="rId2"/>
    <p:sldId id="257" r:id="rId3"/>
    <p:sldId id="270" r:id="rId4"/>
    <p:sldId id="273" r:id="rId5"/>
    <p:sldId id="278" r:id="rId6"/>
    <p:sldId id="261" r:id="rId7"/>
    <p:sldId id="262" r:id="rId8"/>
    <p:sldId id="258" r:id="rId9"/>
    <p:sldId id="268" r:id="rId10"/>
    <p:sldId id="259" r:id="rId11"/>
    <p:sldId id="272" r:id="rId12"/>
    <p:sldId id="275" r:id="rId13"/>
    <p:sldId id="276" r:id="rId14"/>
    <p:sldId id="277"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4" d="100"/>
          <a:sy n="64" d="100"/>
        </p:scale>
        <p:origin x="94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2A6C9-2880-4DB1-8436-01798E7950B1}" type="datetimeFigureOut">
              <a:rPr lang="es-CL" smtClean="0"/>
              <a:t>29-04-2026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0DC2A3-8362-4B09-8977-8826190DA11C}" type="slidenum">
              <a:rPr lang="es-CL" smtClean="0"/>
              <a:t>‹Nº›</a:t>
            </a:fld>
            <a:endParaRPr lang="es-CL"/>
          </a:p>
        </p:txBody>
      </p:sp>
    </p:spTree>
    <p:extLst>
      <p:ext uri="{BB962C8B-B14F-4D97-AF65-F5344CB8AC3E}">
        <p14:creationId xmlns:p14="http://schemas.microsoft.com/office/powerpoint/2010/main" val="2867905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E90DC2A3-8362-4B09-8977-8826190DA11C}" type="slidenum">
              <a:rPr lang="es-CL" smtClean="0"/>
              <a:t>7</a:t>
            </a:fld>
            <a:endParaRPr lang="es-CL"/>
          </a:p>
        </p:txBody>
      </p:sp>
    </p:spTree>
    <p:extLst>
      <p:ext uri="{BB962C8B-B14F-4D97-AF65-F5344CB8AC3E}">
        <p14:creationId xmlns:p14="http://schemas.microsoft.com/office/powerpoint/2010/main" val="1203478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E90DC2A3-8362-4B09-8977-8826190DA11C}" type="slidenum">
              <a:rPr lang="es-CL" smtClean="0"/>
              <a:t>9</a:t>
            </a:fld>
            <a:endParaRPr lang="es-CL"/>
          </a:p>
        </p:txBody>
      </p:sp>
    </p:spTree>
    <p:extLst>
      <p:ext uri="{BB962C8B-B14F-4D97-AF65-F5344CB8AC3E}">
        <p14:creationId xmlns:p14="http://schemas.microsoft.com/office/powerpoint/2010/main" val="4294429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E90DC2A3-8362-4B09-8977-8826190DA11C}" type="slidenum">
              <a:rPr lang="es-CL" smtClean="0"/>
              <a:t>11</a:t>
            </a:fld>
            <a:endParaRPr lang="es-CL"/>
          </a:p>
        </p:txBody>
      </p:sp>
    </p:spTree>
    <p:extLst>
      <p:ext uri="{BB962C8B-B14F-4D97-AF65-F5344CB8AC3E}">
        <p14:creationId xmlns:p14="http://schemas.microsoft.com/office/powerpoint/2010/main" val="3056665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E90DC2A3-8362-4B09-8977-8826190DA11C}" type="slidenum">
              <a:rPr lang="es-CL" smtClean="0"/>
              <a:t>12</a:t>
            </a:fld>
            <a:endParaRPr lang="es-CL"/>
          </a:p>
        </p:txBody>
      </p:sp>
    </p:spTree>
    <p:extLst>
      <p:ext uri="{BB962C8B-B14F-4D97-AF65-F5344CB8AC3E}">
        <p14:creationId xmlns:p14="http://schemas.microsoft.com/office/powerpoint/2010/main" val="2893609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65524E6-7747-4A45-8A92-399779CEEBCD}" type="datetimeFigureOut">
              <a:rPr lang="es-CL" smtClean="0"/>
              <a:t>29-04-2026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34002352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65524E6-7747-4A45-8A92-399779CEEBCD}" type="datetimeFigureOut">
              <a:rPr lang="es-CL" smtClean="0"/>
              <a:t>29-04-2026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26206142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65524E6-7747-4A45-8A92-399779CEEBCD}" type="datetimeFigureOut">
              <a:rPr lang="es-CL" smtClean="0"/>
              <a:t>29-04-2026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41888787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65524E6-7747-4A45-8A92-399779CEEBCD}" type="datetimeFigureOut">
              <a:rPr lang="es-CL" smtClean="0"/>
              <a:t>29-04-2026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20369166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65524E6-7747-4A45-8A92-399779CEEBCD}" type="datetimeFigureOut">
              <a:rPr lang="es-CL" smtClean="0"/>
              <a:t>29-04-2026</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15123141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65524E6-7747-4A45-8A92-399779CEEBCD}" type="datetimeFigureOut">
              <a:rPr lang="es-CL" smtClean="0"/>
              <a:t>29-04-2026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157127628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5524E6-7747-4A45-8A92-399779CEEBCD}" type="datetimeFigureOut">
              <a:rPr lang="es-CL" smtClean="0"/>
              <a:t>29-04-2026</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980945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65524E6-7747-4A45-8A92-399779CEEBCD}" type="datetimeFigureOut">
              <a:rPr lang="es-CL" smtClean="0"/>
              <a:t>29-04-2026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380500745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65524E6-7747-4A45-8A92-399779CEEBCD}" type="datetimeFigureOut">
              <a:rPr lang="es-CL" smtClean="0"/>
              <a:t>29-04-2026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28668186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65524E6-7747-4A45-8A92-399779CEEBCD}" type="datetimeFigureOut">
              <a:rPr lang="es-CL" smtClean="0"/>
              <a:t>29-04-2026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12653633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65524E6-7747-4A45-8A92-399779CEEBCD}" type="datetimeFigureOut">
              <a:rPr lang="es-CL" smtClean="0"/>
              <a:t>29-04-2026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16985143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65524E6-7747-4A45-8A92-399779CEEBCD}" type="datetimeFigureOut">
              <a:rPr lang="es-CL" smtClean="0"/>
              <a:t>29-04-2026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ABF41CFE-C3F0-41D8-8330-4F2213A65BEC}" type="slidenum">
              <a:rPr lang="es-CL" smtClean="0"/>
              <a:t>‹Nº›</a:t>
            </a:fld>
            <a:endParaRPr lang="es-CL"/>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829158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65524E6-7747-4A45-8A92-399779CEEBCD}" type="datetimeFigureOut">
              <a:rPr lang="es-CL" smtClean="0"/>
              <a:t>29-04-2026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20140369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065524E6-7747-4A45-8A92-399779CEEBCD}" type="datetimeFigureOut">
              <a:rPr lang="es-CL" smtClean="0"/>
              <a:t>29-04-2026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22986471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065524E6-7747-4A45-8A92-399779CEEBCD}" type="datetimeFigureOut">
              <a:rPr lang="es-CL" smtClean="0"/>
              <a:t>29-04-2026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38494006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65524E6-7747-4A45-8A92-399779CEEBCD}" type="datetimeFigureOut">
              <a:rPr lang="es-CL" smtClean="0"/>
              <a:t>29-04-2026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2943990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65524E6-7747-4A45-8A92-399779CEEBCD}" type="datetimeFigureOut">
              <a:rPr lang="es-CL" smtClean="0"/>
              <a:t>29-04-2026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ABF41CFE-C3F0-41D8-8330-4F2213A65BEC}" type="slidenum">
              <a:rPr lang="es-CL" smtClean="0"/>
              <a:t>‹Nº›</a:t>
            </a:fld>
            <a:endParaRPr lang="es-CL"/>
          </a:p>
        </p:txBody>
      </p:sp>
    </p:spTree>
    <p:extLst>
      <p:ext uri="{BB962C8B-B14F-4D97-AF65-F5344CB8AC3E}">
        <p14:creationId xmlns:p14="http://schemas.microsoft.com/office/powerpoint/2010/main" val="19004735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65524E6-7747-4A45-8A92-399779CEEBCD}" type="datetimeFigureOut">
              <a:rPr lang="es-CL" smtClean="0"/>
              <a:t>29-04-2026</a:t>
            </a:fld>
            <a:endParaRPr lang="es-CL"/>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s-CL"/>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BF41CFE-C3F0-41D8-8330-4F2213A65BEC}" type="slidenum">
              <a:rPr lang="es-CL" smtClean="0"/>
              <a:t>‹Nº›</a:t>
            </a:fld>
            <a:endParaRPr lang="es-CL"/>
          </a:p>
        </p:txBody>
      </p:sp>
    </p:spTree>
    <p:extLst>
      <p:ext uri="{BB962C8B-B14F-4D97-AF65-F5344CB8AC3E}">
        <p14:creationId xmlns:p14="http://schemas.microsoft.com/office/powerpoint/2010/main" val="322690003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0.jpeg"/><Relationship Id="rId7" Type="http://schemas.openxmlformats.org/officeDocument/2006/relationships/image" Target="../media/image34.jpeg"/><Relationship Id="rId12" Type="http://schemas.openxmlformats.org/officeDocument/2006/relationships/image" Target="../media/image39.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3.jpeg"/><Relationship Id="rId11" Type="http://schemas.openxmlformats.org/officeDocument/2006/relationships/image" Target="../media/image38.jpeg"/><Relationship Id="rId5" Type="http://schemas.openxmlformats.org/officeDocument/2006/relationships/image" Target="../media/image32.jpeg"/><Relationship Id="rId10" Type="http://schemas.openxmlformats.org/officeDocument/2006/relationships/image" Target="../media/image37.jpeg"/><Relationship Id="rId4" Type="http://schemas.openxmlformats.org/officeDocument/2006/relationships/image" Target="../media/image31.jpeg"/><Relationship Id="rId9" Type="http://schemas.openxmlformats.org/officeDocument/2006/relationships/image" Target="../media/image36.jpe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80DDB-A374-DCA7-C515-F6A63952B294}"/>
              </a:ext>
            </a:extLst>
          </p:cNvPr>
          <p:cNvSpPr>
            <a:spLocks noGrp="1"/>
          </p:cNvSpPr>
          <p:nvPr>
            <p:ph type="ctrTitle"/>
          </p:nvPr>
        </p:nvSpPr>
        <p:spPr>
          <a:xfrm>
            <a:off x="1524000" y="348739"/>
            <a:ext cx="9144000" cy="1172263"/>
          </a:xfrm>
        </p:spPr>
        <p:txBody>
          <a:bodyPr>
            <a:normAutofit/>
          </a:bodyPr>
          <a:lstStyle/>
          <a:p>
            <a:r>
              <a:rPr lang="es-CL" sz="6600" b="1" dirty="0">
                <a:solidFill>
                  <a:schemeClr val="tx1"/>
                </a:solidFill>
              </a:rPr>
              <a:t>Vehículo MPC</a:t>
            </a:r>
          </a:p>
        </p:txBody>
      </p:sp>
      <p:sp>
        <p:nvSpPr>
          <p:cNvPr id="3" name="Subtítulo 2">
            <a:extLst>
              <a:ext uri="{FF2B5EF4-FFF2-40B4-BE49-F238E27FC236}">
                <a16:creationId xmlns:a16="http://schemas.microsoft.com/office/drawing/2014/main" id="{52A0C716-AA52-8063-033E-BB5A79685E34}"/>
              </a:ext>
            </a:extLst>
          </p:cNvPr>
          <p:cNvSpPr>
            <a:spLocks noGrp="1"/>
          </p:cNvSpPr>
          <p:nvPr>
            <p:ph type="subTitle" idx="1"/>
          </p:nvPr>
        </p:nvSpPr>
        <p:spPr>
          <a:xfrm>
            <a:off x="887105" y="2463058"/>
            <a:ext cx="2682131" cy="3605622"/>
          </a:xfrm>
        </p:spPr>
        <p:txBody>
          <a:bodyPr>
            <a:normAutofit/>
          </a:bodyPr>
          <a:lstStyle/>
          <a:p>
            <a:pPr algn="l"/>
            <a:r>
              <a:rPr lang="es-CL" b="1" dirty="0"/>
              <a:t>Integrantes:</a:t>
            </a:r>
          </a:p>
          <a:p>
            <a:pPr algn="l"/>
            <a:r>
              <a:rPr lang="es-CL" dirty="0"/>
              <a:t>Jorge Espér</a:t>
            </a:r>
          </a:p>
          <a:p>
            <a:pPr algn="l"/>
            <a:r>
              <a:rPr lang="es-CL" dirty="0"/>
              <a:t>Ignacio Leiva</a:t>
            </a:r>
          </a:p>
          <a:p>
            <a:pPr algn="l"/>
            <a:r>
              <a:rPr lang="es-CL" dirty="0"/>
              <a:t>Franco Pizarro</a:t>
            </a:r>
          </a:p>
          <a:p>
            <a:pPr algn="l"/>
            <a:r>
              <a:rPr lang="es-CL" dirty="0"/>
              <a:t>José Zamorano</a:t>
            </a:r>
          </a:p>
          <a:p>
            <a:pPr algn="l"/>
            <a:endParaRPr lang="es-CL" dirty="0"/>
          </a:p>
          <a:p>
            <a:pPr algn="l"/>
            <a:r>
              <a:rPr lang="es-CL" b="1" dirty="0"/>
              <a:t>Profesor:</a:t>
            </a:r>
          </a:p>
          <a:p>
            <a:pPr algn="l"/>
            <a:r>
              <a:rPr lang="es-CL" dirty="0"/>
              <a:t>Diego Elorza</a:t>
            </a:r>
          </a:p>
          <a:p>
            <a:endParaRPr lang="es-CL" dirty="0"/>
          </a:p>
          <a:p>
            <a:endParaRPr lang="es-CL" dirty="0"/>
          </a:p>
          <a:p>
            <a:endParaRPr lang="es-CL" dirty="0"/>
          </a:p>
        </p:txBody>
      </p:sp>
      <p:pic>
        <p:nvPicPr>
          <p:cNvPr id="9" name="Imagen 8">
            <a:extLst>
              <a:ext uri="{FF2B5EF4-FFF2-40B4-BE49-F238E27FC236}">
                <a16:creationId xmlns:a16="http://schemas.microsoft.com/office/drawing/2014/main" id="{A367BFB3-4B1D-4860-8FB0-3BE8E8F6E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7050" y="1229899"/>
            <a:ext cx="6110950" cy="5780838"/>
          </a:xfrm>
          <a:prstGeom prst="rect">
            <a:avLst/>
          </a:prstGeom>
        </p:spPr>
      </p:pic>
    </p:spTree>
    <p:extLst>
      <p:ext uri="{BB962C8B-B14F-4D97-AF65-F5344CB8AC3E}">
        <p14:creationId xmlns:p14="http://schemas.microsoft.com/office/powerpoint/2010/main" val="31592078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19191-7277-1601-7039-5749C8D2DD25}"/>
              </a:ext>
            </a:extLst>
          </p:cNvPr>
          <p:cNvSpPr>
            <a:spLocks noGrp="1"/>
          </p:cNvSpPr>
          <p:nvPr>
            <p:ph type="title"/>
          </p:nvPr>
        </p:nvSpPr>
        <p:spPr>
          <a:xfrm>
            <a:off x="261420" y="273409"/>
            <a:ext cx="5896131" cy="970450"/>
          </a:xfrm>
        </p:spPr>
        <p:txBody>
          <a:bodyPr>
            <a:normAutofit fontScale="90000"/>
          </a:bodyPr>
          <a:lstStyle/>
          <a:p>
            <a:pPr algn="l"/>
            <a:r>
              <a:rPr lang="es-CL" sz="4400" b="1" dirty="0">
                <a:solidFill>
                  <a:schemeClr val="tx1"/>
                </a:solidFill>
              </a:rPr>
              <a:t>Introducción y desarrollo</a:t>
            </a:r>
            <a:endParaRPr lang="es-CL" b="1" dirty="0">
              <a:solidFill>
                <a:schemeClr val="tx1"/>
              </a:solidFill>
            </a:endParaRPr>
          </a:p>
        </p:txBody>
      </p:sp>
      <p:sp>
        <p:nvSpPr>
          <p:cNvPr id="3" name="Marcador de contenido 2">
            <a:extLst>
              <a:ext uri="{FF2B5EF4-FFF2-40B4-BE49-F238E27FC236}">
                <a16:creationId xmlns:a16="http://schemas.microsoft.com/office/drawing/2014/main" id="{BA1BF29C-26A8-93AD-74E5-AF91C4F2EDE2}"/>
              </a:ext>
            </a:extLst>
          </p:cNvPr>
          <p:cNvSpPr>
            <a:spLocks noGrp="1"/>
          </p:cNvSpPr>
          <p:nvPr>
            <p:ph idx="1"/>
          </p:nvPr>
        </p:nvSpPr>
        <p:spPr>
          <a:xfrm>
            <a:off x="199869" y="1399624"/>
            <a:ext cx="5896131" cy="5069415"/>
          </a:xfrm>
        </p:spPr>
        <p:txBody>
          <a:bodyPr>
            <a:normAutofit/>
          </a:bodyPr>
          <a:lstStyle/>
          <a:p>
            <a:pPr marL="36900" indent="0">
              <a:buNone/>
            </a:pPr>
            <a:r>
              <a:rPr lang="es-CL" b="1" dirty="0">
                <a:solidFill>
                  <a:schemeClr val="tx1"/>
                </a:solidFill>
              </a:rPr>
              <a:t>El objetivo de este trabajo fue diseñar un controlador MPC capaz de seguir una trayectoria de mariposa mediante la optimización de las velocidades lineales (v) y angular (w), </a:t>
            </a:r>
            <a:r>
              <a:rPr lang="es-MX" b="1" dirty="0">
                <a:solidFill>
                  <a:schemeClr val="tx1"/>
                </a:solidFill>
              </a:rPr>
              <a:t>respetando los límites físicos de un robot diferencial.</a:t>
            </a:r>
          </a:p>
          <a:p>
            <a:pPr marL="36900" indent="0">
              <a:buNone/>
            </a:pPr>
            <a:endParaRPr lang="es-MX" sz="500" b="1" dirty="0">
              <a:solidFill>
                <a:schemeClr val="tx1"/>
              </a:solidFill>
            </a:endParaRPr>
          </a:p>
          <a:p>
            <a:pPr marL="36900" indent="0">
              <a:buNone/>
            </a:pPr>
            <a:r>
              <a:rPr lang="es-MX" b="1" dirty="0">
                <a:solidFill>
                  <a:schemeClr val="tx1"/>
                </a:solidFill>
              </a:rPr>
              <a:t>La implementación integro una fase de simulación en Python para optimizar la ruta y una etapa física con un ESP32. El desafío central fue compensar fenómenos del mundo real como la fricción, la caída de voltaje y la asimetría de los motores. Mediante ajustes en la geometría virtual y la frecuencia de potencia, se logro que el robot replicara la mariposa con precisión en un entorno limitado.</a:t>
            </a:r>
          </a:p>
          <a:p>
            <a:pPr marL="36900" indent="0">
              <a:buNone/>
            </a:pPr>
            <a:endParaRPr lang="es-CL" b="1" dirty="0">
              <a:solidFill>
                <a:schemeClr val="tx1"/>
              </a:solidFill>
            </a:endParaRPr>
          </a:p>
          <a:p>
            <a:pPr marL="36900" indent="0">
              <a:buNone/>
            </a:pPr>
            <a:endParaRPr lang="es-CL" dirty="0"/>
          </a:p>
        </p:txBody>
      </p:sp>
      <p:pic>
        <p:nvPicPr>
          <p:cNvPr id="5" name="Imagen 4">
            <a:extLst>
              <a:ext uri="{FF2B5EF4-FFF2-40B4-BE49-F238E27FC236}">
                <a16:creationId xmlns:a16="http://schemas.microsoft.com/office/drawing/2014/main" id="{58CEE6DA-36E0-DF3D-05D2-1B7B3A4E945B}"/>
              </a:ext>
            </a:extLst>
          </p:cNvPr>
          <p:cNvPicPr>
            <a:picLocks noChangeAspect="1"/>
          </p:cNvPicPr>
          <p:nvPr/>
        </p:nvPicPr>
        <p:blipFill>
          <a:blip r:embed="rId2"/>
          <a:stretch>
            <a:fillRect/>
          </a:stretch>
        </p:blipFill>
        <p:spPr>
          <a:xfrm>
            <a:off x="6301922" y="1243858"/>
            <a:ext cx="5690209" cy="4570087"/>
          </a:xfrm>
          <a:prstGeom prst="rect">
            <a:avLst/>
          </a:prstGeom>
        </p:spPr>
      </p:pic>
    </p:spTree>
    <p:extLst>
      <p:ext uri="{BB962C8B-B14F-4D97-AF65-F5344CB8AC3E}">
        <p14:creationId xmlns:p14="http://schemas.microsoft.com/office/powerpoint/2010/main" val="35549042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C38C38-AE65-CA3C-C33F-BA30F27A74D4}"/>
              </a:ext>
            </a:extLst>
          </p:cNvPr>
          <p:cNvSpPr>
            <a:spLocks noGrp="1"/>
          </p:cNvSpPr>
          <p:nvPr>
            <p:ph type="title"/>
          </p:nvPr>
        </p:nvSpPr>
        <p:spPr>
          <a:xfrm>
            <a:off x="826415" y="327821"/>
            <a:ext cx="10353762" cy="970450"/>
          </a:xfrm>
        </p:spPr>
        <p:txBody>
          <a:bodyPr/>
          <a:lstStyle/>
          <a:p>
            <a:pPr algn="l"/>
            <a:r>
              <a:rPr lang="es-CL" b="1" dirty="0">
                <a:solidFill>
                  <a:schemeClr val="tx1"/>
                </a:solidFill>
              </a:rPr>
              <a:t>Ecuaciones y modelamiento matemático</a:t>
            </a:r>
          </a:p>
        </p:txBody>
      </p:sp>
      <p:sp>
        <p:nvSpPr>
          <p:cNvPr id="3" name="Marcador de contenido 2">
            <a:extLst>
              <a:ext uri="{FF2B5EF4-FFF2-40B4-BE49-F238E27FC236}">
                <a16:creationId xmlns:a16="http://schemas.microsoft.com/office/drawing/2014/main" id="{F6464006-C918-EE2E-1387-3752C3A29A0B}"/>
              </a:ext>
            </a:extLst>
          </p:cNvPr>
          <p:cNvSpPr>
            <a:spLocks noGrp="1"/>
          </p:cNvSpPr>
          <p:nvPr>
            <p:ph idx="1"/>
          </p:nvPr>
        </p:nvSpPr>
        <p:spPr>
          <a:xfrm>
            <a:off x="826415" y="2010841"/>
            <a:ext cx="3802754" cy="970450"/>
          </a:xfrm>
        </p:spPr>
        <p:txBody>
          <a:bodyPr/>
          <a:lstStyle/>
          <a:p>
            <a:r>
              <a:rPr lang="es-MX" b="1" dirty="0">
                <a:solidFill>
                  <a:schemeClr val="tx1"/>
                </a:solidFill>
              </a:rPr>
              <a:t>Modelo Cinemático del Robot (Diferencial):</a:t>
            </a:r>
          </a:p>
          <a:p>
            <a:endParaRPr lang="es-CL" dirty="0"/>
          </a:p>
        </p:txBody>
      </p:sp>
      <p:pic>
        <p:nvPicPr>
          <p:cNvPr id="8" name="Imagen 7">
            <a:extLst>
              <a:ext uri="{FF2B5EF4-FFF2-40B4-BE49-F238E27FC236}">
                <a16:creationId xmlns:a16="http://schemas.microsoft.com/office/drawing/2014/main" id="{AB7BAC2A-D0FA-D767-B741-063C7306E809}"/>
              </a:ext>
            </a:extLst>
          </p:cNvPr>
          <p:cNvPicPr>
            <a:picLocks noChangeAspect="1"/>
          </p:cNvPicPr>
          <p:nvPr/>
        </p:nvPicPr>
        <p:blipFill>
          <a:blip r:embed="rId2"/>
          <a:stretch>
            <a:fillRect/>
          </a:stretch>
        </p:blipFill>
        <p:spPr>
          <a:xfrm>
            <a:off x="376795" y="3121963"/>
            <a:ext cx="4252374" cy="1596882"/>
          </a:xfrm>
          <a:prstGeom prst="rect">
            <a:avLst/>
          </a:prstGeom>
        </p:spPr>
      </p:pic>
      <p:sp>
        <p:nvSpPr>
          <p:cNvPr id="9" name="Marcador de contenido 2">
            <a:extLst>
              <a:ext uri="{FF2B5EF4-FFF2-40B4-BE49-F238E27FC236}">
                <a16:creationId xmlns:a16="http://schemas.microsoft.com/office/drawing/2014/main" id="{11C3C788-34F8-ED46-92DE-004008197D91}"/>
              </a:ext>
            </a:extLst>
          </p:cNvPr>
          <p:cNvSpPr txBox="1">
            <a:spLocks/>
          </p:cNvSpPr>
          <p:nvPr/>
        </p:nvSpPr>
        <p:spPr>
          <a:xfrm>
            <a:off x="4629169" y="2010841"/>
            <a:ext cx="3644323" cy="970451"/>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s-CL" b="1" dirty="0">
                <a:solidFill>
                  <a:schemeClr val="tx1"/>
                </a:solidFill>
              </a:rPr>
              <a:t>Discretización del Modelo, calculo con método de Euler: </a:t>
            </a:r>
          </a:p>
        </p:txBody>
      </p:sp>
      <p:pic>
        <p:nvPicPr>
          <p:cNvPr id="11" name="Imagen 10">
            <a:extLst>
              <a:ext uri="{FF2B5EF4-FFF2-40B4-BE49-F238E27FC236}">
                <a16:creationId xmlns:a16="http://schemas.microsoft.com/office/drawing/2014/main" id="{DA0A4FFE-6911-6D21-6754-68DD2214F184}"/>
              </a:ext>
            </a:extLst>
          </p:cNvPr>
          <p:cNvPicPr>
            <a:picLocks noChangeAspect="1"/>
          </p:cNvPicPr>
          <p:nvPr/>
        </p:nvPicPr>
        <p:blipFill>
          <a:blip r:embed="rId3"/>
          <a:stretch>
            <a:fillRect/>
          </a:stretch>
        </p:blipFill>
        <p:spPr>
          <a:xfrm>
            <a:off x="4854408" y="3128561"/>
            <a:ext cx="3644323" cy="1648957"/>
          </a:xfrm>
          <a:prstGeom prst="rect">
            <a:avLst/>
          </a:prstGeom>
        </p:spPr>
      </p:pic>
      <p:sp>
        <p:nvSpPr>
          <p:cNvPr id="18" name="Marcador de contenido 2">
            <a:extLst>
              <a:ext uri="{FF2B5EF4-FFF2-40B4-BE49-F238E27FC236}">
                <a16:creationId xmlns:a16="http://schemas.microsoft.com/office/drawing/2014/main" id="{891BAE1D-1FE3-FEFB-A5C2-2A4C8CF10A89}"/>
              </a:ext>
            </a:extLst>
          </p:cNvPr>
          <p:cNvSpPr txBox="1">
            <a:spLocks/>
          </p:cNvSpPr>
          <p:nvPr/>
        </p:nvSpPr>
        <p:spPr>
          <a:xfrm>
            <a:off x="8675535" y="2010841"/>
            <a:ext cx="3026312" cy="970451"/>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s-CL" b="1" dirty="0">
                <a:solidFill>
                  <a:schemeClr val="tx1"/>
                </a:solidFill>
                <a:effectLst>
                  <a:outerShdw blurRad="38100" dist="38100" dir="2700000" algn="tl">
                    <a:srgbClr val="000000">
                      <a:alpha val="43137"/>
                    </a:srgbClr>
                  </a:outerShdw>
                </a:effectLst>
              </a:rPr>
              <a:t>Cinemática Inversa de Robot a Motores: </a:t>
            </a:r>
            <a:r>
              <a:rPr lang="es-CL" b="1" dirty="0" err="1">
                <a:solidFill>
                  <a:schemeClr val="tx1"/>
                </a:solidFill>
                <a:effectLst>
                  <a:outerShdw blurRad="38100" dist="38100" dir="2700000" algn="tl">
                    <a:srgbClr val="000000">
                      <a:alpha val="43137"/>
                    </a:srgbClr>
                  </a:outerShdw>
                </a:effectLst>
              </a:rPr>
              <a:t>Ec</a:t>
            </a:r>
            <a:r>
              <a:rPr lang="es-CL" b="1" dirty="0">
                <a:solidFill>
                  <a:schemeClr val="tx1"/>
                </a:solidFill>
                <a:effectLst>
                  <a:outerShdw blurRad="38100" dist="38100" dir="2700000" algn="tl">
                    <a:srgbClr val="000000">
                      <a:alpha val="43137"/>
                    </a:srgbClr>
                  </a:outerShdw>
                </a:effectLst>
              </a:rPr>
              <a:t>. De transformación</a:t>
            </a:r>
          </a:p>
        </p:txBody>
      </p:sp>
      <p:pic>
        <p:nvPicPr>
          <p:cNvPr id="20" name="Imagen 19">
            <a:extLst>
              <a:ext uri="{FF2B5EF4-FFF2-40B4-BE49-F238E27FC236}">
                <a16:creationId xmlns:a16="http://schemas.microsoft.com/office/drawing/2014/main" id="{7CDF294D-880C-48D4-7E26-5DE365740AEF}"/>
              </a:ext>
            </a:extLst>
          </p:cNvPr>
          <p:cNvPicPr>
            <a:picLocks noChangeAspect="1"/>
          </p:cNvPicPr>
          <p:nvPr/>
        </p:nvPicPr>
        <p:blipFill>
          <a:blip r:embed="rId4"/>
          <a:stretch>
            <a:fillRect/>
          </a:stretch>
        </p:blipFill>
        <p:spPr>
          <a:xfrm>
            <a:off x="9049742" y="3121962"/>
            <a:ext cx="2277899" cy="2105229"/>
          </a:xfrm>
          <a:prstGeom prst="rect">
            <a:avLst/>
          </a:prstGeom>
        </p:spPr>
      </p:pic>
      <p:sp>
        <p:nvSpPr>
          <p:cNvPr id="21" name="Marcador de contenido 2">
            <a:extLst>
              <a:ext uri="{FF2B5EF4-FFF2-40B4-BE49-F238E27FC236}">
                <a16:creationId xmlns:a16="http://schemas.microsoft.com/office/drawing/2014/main" id="{38737A66-9ABA-EE58-88C8-802DEFB42548}"/>
              </a:ext>
            </a:extLst>
          </p:cNvPr>
          <p:cNvSpPr txBox="1">
            <a:spLocks/>
          </p:cNvSpPr>
          <p:nvPr/>
        </p:nvSpPr>
        <p:spPr>
          <a:xfrm>
            <a:off x="602034" y="4529772"/>
            <a:ext cx="4409946" cy="9704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s-CL"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988151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Marcador de contenido 2">
            <a:extLst>
              <a:ext uri="{FF2B5EF4-FFF2-40B4-BE49-F238E27FC236}">
                <a16:creationId xmlns:a16="http://schemas.microsoft.com/office/drawing/2014/main" id="{C4FD6AA8-ED38-118A-CFE3-2CD74B6628E0}"/>
              </a:ext>
            </a:extLst>
          </p:cNvPr>
          <p:cNvSpPr txBox="1">
            <a:spLocks/>
          </p:cNvSpPr>
          <p:nvPr/>
        </p:nvSpPr>
        <p:spPr>
          <a:xfrm>
            <a:off x="622644" y="475006"/>
            <a:ext cx="5473356" cy="9704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s-MX" b="1" dirty="0">
                <a:solidFill>
                  <a:schemeClr val="tx1"/>
                </a:solidFill>
              </a:rPr>
              <a:t>Función de Costo (El "Cerebro" del MPC)</a:t>
            </a:r>
          </a:p>
          <a:p>
            <a:pPr marL="36900" indent="0">
              <a:buNone/>
            </a:pPr>
            <a:r>
              <a:rPr lang="es-MX" b="1" dirty="0">
                <a:solidFill>
                  <a:schemeClr val="tx1"/>
                </a:solidFill>
              </a:rPr>
              <a:t>Ecuación de optimización </a:t>
            </a:r>
            <a:endParaRPr lang="es-CL" b="1" dirty="0">
              <a:solidFill>
                <a:schemeClr val="tx1"/>
              </a:solidFill>
            </a:endParaRPr>
          </a:p>
        </p:txBody>
      </p:sp>
      <p:sp>
        <p:nvSpPr>
          <p:cNvPr id="6" name="Marcador de contenido 2">
            <a:extLst>
              <a:ext uri="{FF2B5EF4-FFF2-40B4-BE49-F238E27FC236}">
                <a16:creationId xmlns:a16="http://schemas.microsoft.com/office/drawing/2014/main" id="{92A1EB26-B465-D505-ED5C-9BAB69CE92CD}"/>
              </a:ext>
            </a:extLst>
          </p:cNvPr>
          <p:cNvSpPr txBox="1">
            <a:spLocks/>
          </p:cNvSpPr>
          <p:nvPr/>
        </p:nvSpPr>
        <p:spPr>
          <a:xfrm>
            <a:off x="622644" y="3900021"/>
            <a:ext cx="4409946" cy="9704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s-MX" b="1" dirty="0">
                <a:solidFill>
                  <a:schemeClr val="tx1"/>
                </a:solidFill>
              </a:rPr>
              <a:t>Mapeo a PWM (Señal Eléctrica) </a:t>
            </a:r>
            <a:endParaRPr lang="es-CL" b="1" dirty="0">
              <a:solidFill>
                <a:schemeClr val="tx1"/>
              </a:solidFill>
              <a:effectLst>
                <a:outerShdw blurRad="38100" dist="38100" dir="2700000" algn="tl">
                  <a:srgbClr val="000000">
                    <a:alpha val="43137"/>
                  </a:srgbClr>
                </a:outerShdw>
              </a:effectLst>
            </a:endParaRPr>
          </a:p>
        </p:txBody>
      </p:sp>
      <p:pic>
        <p:nvPicPr>
          <p:cNvPr id="24" name="Imagen 23">
            <a:extLst>
              <a:ext uri="{FF2B5EF4-FFF2-40B4-BE49-F238E27FC236}">
                <a16:creationId xmlns:a16="http://schemas.microsoft.com/office/drawing/2014/main" id="{3EB32CA1-BE62-01DA-EF60-02EFD1A40EF2}"/>
              </a:ext>
            </a:extLst>
          </p:cNvPr>
          <p:cNvPicPr>
            <a:picLocks noChangeAspect="1"/>
          </p:cNvPicPr>
          <p:nvPr/>
        </p:nvPicPr>
        <p:blipFill>
          <a:blip r:embed="rId2"/>
          <a:stretch>
            <a:fillRect/>
          </a:stretch>
        </p:blipFill>
        <p:spPr>
          <a:xfrm>
            <a:off x="721597" y="4480094"/>
            <a:ext cx="3605664" cy="1577479"/>
          </a:xfrm>
          <a:prstGeom prst="rect">
            <a:avLst/>
          </a:prstGeom>
        </p:spPr>
      </p:pic>
      <p:pic>
        <p:nvPicPr>
          <p:cNvPr id="8" name="Imagen 7">
            <a:extLst>
              <a:ext uri="{FF2B5EF4-FFF2-40B4-BE49-F238E27FC236}">
                <a16:creationId xmlns:a16="http://schemas.microsoft.com/office/drawing/2014/main" id="{B99C2576-F6D0-65E6-D8AA-F61BA7C11D77}"/>
              </a:ext>
            </a:extLst>
          </p:cNvPr>
          <p:cNvPicPr>
            <a:picLocks noChangeAspect="1"/>
          </p:cNvPicPr>
          <p:nvPr/>
        </p:nvPicPr>
        <p:blipFill>
          <a:blip r:embed="rId3"/>
          <a:stretch>
            <a:fillRect/>
          </a:stretch>
        </p:blipFill>
        <p:spPr>
          <a:xfrm>
            <a:off x="721597" y="1617993"/>
            <a:ext cx="7572972" cy="1985016"/>
          </a:xfrm>
          <a:prstGeom prst="rect">
            <a:avLst/>
          </a:prstGeom>
        </p:spPr>
      </p:pic>
    </p:spTree>
    <p:extLst>
      <p:ext uri="{BB962C8B-B14F-4D97-AF65-F5344CB8AC3E}">
        <p14:creationId xmlns:p14="http://schemas.microsoft.com/office/powerpoint/2010/main" val="19035758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82A897-5F1C-0FF3-0915-320B2CC735B0}"/>
              </a:ext>
            </a:extLst>
          </p:cNvPr>
          <p:cNvSpPr>
            <a:spLocks noGrp="1"/>
          </p:cNvSpPr>
          <p:nvPr>
            <p:ph type="title"/>
          </p:nvPr>
        </p:nvSpPr>
        <p:spPr>
          <a:xfrm>
            <a:off x="217759" y="486770"/>
            <a:ext cx="10353762" cy="970450"/>
          </a:xfrm>
        </p:spPr>
        <p:txBody>
          <a:bodyPr/>
          <a:lstStyle/>
          <a:p>
            <a:pPr algn="l"/>
            <a:r>
              <a:rPr lang="es-CL" b="1" dirty="0">
                <a:solidFill>
                  <a:schemeClr val="tx1"/>
                </a:solidFill>
              </a:rPr>
              <a:t>Tabla de resultados</a:t>
            </a:r>
          </a:p>
        </p:txBody>
      </p:sp>
      <p:pic>
        <p:nvPicPr>
          <p:cNvPr id="11" name="Imagen 10">
            <a:extLst>
              <a:ext uri="{FF2B5EF4-FFF2-40B4-BE49-F238E27FC236}">
                <a16:creationId xmlns:a16="http://schemas.microsoft.com/office/drawing/2014/main" id="{36BB7E8B-46AF-9101-D613-0621A833F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81818"/>
            <a:ext cx="12192000" cy="3804047"/>
          </a:xfrm>
          <a:prstGeom prst="rect">
            <a:avLst/>
          </a:prstGeom>
        </p:spPr>
      </p:pic>
    </p:spTree>
    <p:extLst>
      <p:ext uri="{BB962C8B-B14F-4D97-AF65-F5344CB8AC3E}">
        <p14:creationId xmlns:p14="http://schemas.microsoft.com/office/powerpoint/2010/main" val="84211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27935A-3F98-8BD9-6452-E2546F808D61}"/>
              </a:ext>
            </a:extLst>
          </p:cNvPr>
          <p:cNvSpPr>
            <a:spLocks noGrp="1"/>
          </p:cNvSpPr>
          <p:nvPr>
            <p:ph type="title"/>
          </p:nvPr>
        </p:nvSpPr>
        <p:spPr>
          <a:xfrm>
            <a:off x="345188" y="167493"/>
            <a:ext cx="7085629" cy="733245"/>
          </a:xfrm>
        </p:spPr>
        <p:txBody>
          <a:bodyPr/>
          <a:lstStyle/>
          <a:p>
            <a:pPr algn="l"/>
            <a:r>
              <a:rPr lang="es-CL" b="1" dirty="0">
                <a:solidFill>
                  <a:schemeClr val="tx1"/>
                </a:solidFill>
              </a:rPr>
              <a:t>Simulación Inicial con Python</a:t>
            </a:r>
          </a:p>
        </p:txBody>
      </p:sp>
      <p:sp>
        <p:nvSpPr>
          <p:cNvPr id="3" name="Marcador de contenido 2">
            <a:extLst>
              <a:ext uri="{FF2B5EF4-FFF2-40B4-BE49-F238E27FC236}">
                <a16:creationId xmlns:a16="http://schemas.microsoft.com/office/drawing/2014/main" id="{C3BC6276-E1E4-94B7-36AC-617742CE4151}"/>
              </a:ext>
            </a:extLst>
          </p:cNvPr>
          <p:cNvSpPr>
            <a:spLocks noGrp="1"/>
          </p:cNvSpPr>
          <p:nvPr>
            <p:ph idx="1"/>
          </p:nvPr>
        </p:nvSpPr>
        <p:spPr>
          <a:xfrm>
            <a:off x="345188" y="1179086"/>
            <a:ext cx="6479754" cy="5858796"/>
          </a:xfrm>
        </p:spPr>
        <p:txBody>
          <a:bodyPr/>
          <a:lstStyle/>
          <a:p>
            <a:r>
              <a:rPr lang="es-CL" b="1" dirty="0">
                <a:solidFill>
                  <a:schemeClr val="tx1"/>
                </a:solidFill>
              </a:rPr>
              <a:t>Se empezó realizando una simulación mas sencilla con una trayectoria en forma de 8, para practicar el modelo MPC  y facilitar los cambios a definir, y así mas adelante realizar la trayectoria de mariposa</a:t>
            </a:r>
          </a:p>
        </p:txBody>
      </p:sp>
      <p:pic>
        <p:nvPicPr>
          <p:cNvPr id="6" name="Imagen 5">
            <a:extLst>
              <a:ext uri="{FF2B5EF4-FFF2-40B4-BE49-F238E27FC236}">
                <a16:creationId xmlns:a16="http://schemas.microsoft.com/office/drawing/2014/main" id="{1FFA5CCD-649E-C343-6D65-40BA2E2BCCF7}"/>
              </a:ext>
            </a:extLst>
          </p:cNvPr>
          <p:cNvPicPr>
            <a:picLocks noChangeAspect="1"/>
          </p:cNvPicPr>
          <p:nvPr/>
        </p:nvPicPr>
        <p:blipFill>
          <a:blip r:embed="rId2">
            <a:extLst>
              <a:ext uri="{28A0092B-C50C-407E-A947-70E740481C1C}">
                <a14:useLocalDpi xmlns:a14="http://schemas.microsoft.com/office/drawing/2010/main" val="0"/>
              </a:ext>
            </a:extLst>
          </a:blip>
          <a:srcRect l="7430" t="5288" r="5637" b="5755"/>
          <a:stretch>
            <a:fillRect/>
          </a:stretch>
        </p:blipFill>
        <p:spPr>
          <a:xfrm>
            <a:off x="7317873" y="3759955"/>
            <a:ext cx="4275544" cy="2790747"/>
          </a:xfrm>
          <a:prstGeom prst="rect">
            <a:avLst/>
          </a:prstGeom>
        </p:spPr>
      </p:pic>
      <p:pic>
        <p:nvPicPr>
          <p:cNvPr id="11" name="Imagen 10">
            <a:extLst>
              <a:ext uri="{FF2B5EF4-FFF2-40B4-BE49-F238E27FC236}">
                <a16:creationId xmlns:a16="http://schemas.microsoft.com/office/drawing/2014/main" id="{70949EE7-756F-AC3D-0828-8EE013CFBE61}"/>
              </a:ext>
            </a:extLst>
          </p:cNvPr>
          <p:cNvPicPr>
            <a:picLocks noChangeAspect="1"/>
          </p:cNvPicPr>
          <p:nvPr/>
        </p:nvPicPr>
        <p:blipFill>
          <a:blip r:embed="rId3">
            <a:extLst>
              <a:ext uri="{28A0092B-C50C-407E-A947-70E740481C1C}">
                <a14:useLocalDpi xmlns:a14="http://schemas.microsoft.com/office/drawing/2010/main" val="0"/>
              </a:ext>
            </a:extLst>
          </a:blip>
          <a:srcRect l="18010" t="5719" r="15449" b="8067"/>
          <a:stretch>
            <a:fillRect/>
          </a:stretch>
        </p:blipFill>
        <p:spPr>
          <a:xfrm>
            <a:off x="531061" y="2756066"/>
            <a:ext cx="6108009" cy="3794635"/>
          </a:xfrm>
          <a:prstGeom prst="rect">
            <a:avLst/>
          </a:prstGeom>
        </p:spPr>
      </p:pic>
      <p:pic>
        <p:nvPicPr>
          <p:cNvPr id="13" name="Imagen 12">
            <a:extLst>
              <a:ext uri="{FF2B5EF4-FFF2-40B4-BE49-F238E27FC236}">
                <a16:creationId xmlns:a16="http://schemas.microsoft.com/office/drawing/2014/main" id="{954EEA22-1FD7-9686-ECD1-B06817D1C4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17873" y="883145"/>
            <a:ext cx="4275544" cy="2790747"/>
          </a:xfrm>
          <a:prstGeom prst="rect">
            <a:avLst/>
          </a:prstGeom>
        </p:spPr>
      </p:pic>
    </p:spTree>
    <p:extLst>
      <p:ext uri="{BB962C8B-B14F-4D97-AF65-F5344CB8AC3E}">
        <p14:creationId xmlns:p14="http://schemas.microsoft.com/office/powerpoint/2010/main" val="21620386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571A55B-8C56-492F-B317-105830ECF92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0" y="1"/>
            <a:ext cx="4690532" cy="6858000"/>
          </a:xfrm>
          <a:prstGeom prst="rect">
            <a:avLst/>
          </a:prstGeom>
        </p:spPr>
      </p:pic>
      <p:pic>
        <p:nvPicPr>
          <p:cNvPr id="11" name="Imagen 10">
            <a:extLst>
              <a:ext uri="{FF2B5EF4-FFF2-40B4-BE49-F238E27FC236}">
                <a16:creationId xmlns:a16="http://schemas.microsoft.com/office/drawing/2014/main" id="{944BA7B1-81E7-ECEE-6FE0-A48E3A5D63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2604" y="2823091"/>
            <a:ext cx="7926791" cy="3804857"/>
          </a:xfrm>
          <a:prstGeom prst="rect">
            <a:avLst/>
          </a:prstGeom>
        </p:spPr>
      </p:pic>
      <p:pic>
        <p:nvPicPr>
          <p:cNvPr id="5" name="Marcador de contenido 4">
            <a:extLst>
              <a:ext uri="{FF2B5EF4-FFF2-40B4-BE49-F238E27FC236}">
                <a16:creationId xmlns:a16="http://schemas.microsoft.com/office/drawing/2014/main" id="{4A8CE0F9-2DF5-03E2-7C7C-D0C00ED23D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2712" y="230052"/>
            <a:ext cx="5560280" cy="2432467"/>
          </a:xfrm>
          <a:prstGeom prst="rect">
            <a:avLst/>
          </a:prstGeom>
        </p:spPr>
      </p:pic>
      <p:pic>
        <p:nvPicPr>
          <p:cNvPr id="9" name="Imagen 8">
            <a:extLst>
              <a:ext uri="{FF2B5EF4-FFF2-40B4-BE49-F238E27FC236}">
                <a16:creationId xmlns:a16="http://schemas.microsoft.com/office/drawing/2014/main" id="{18FB800B-E042-BF35-6FAC-8FF0DED94F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63860" y="230052"/>
            <a:ext cx="5118605" cy="2432467"/>
          </a:xfrm>
          <a:prstGeom prst="rect">
            <a:avLst/>
          </a:prstGeom>
        </p:spPr>
      </p:pic>
    </p:spTree>
    <p:extLst>
      <p:ext uri="{BB962C8B-B14F-4D97-AF65-F5344CB8AC3E}">
        <p14:creationId xmlns:p14="http://schemas.microsoft.com/office/powerpoint/2010/main" val="29878932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664F8D-EEE7-3703-7828-86C5AAEC8794}"/>
              </a:ext>
            </a:extLst>
          </p:cNvPr>
          <p:cNvSpPr>
            <a:spLocks noGrp="1"/>
          </p:cNvSpPr>
          <p:nvPr>
            <p:ph type="title"/>
          </p:nvPr>
        </p:nvSpPr>
        <p:spPr>
          <a:xfrm>
            <a:off x="403918" y="215766"/>
            <a:ext cx="4018180" cy="629728"/>
          </a:xfrm>
        </p:spPr>
        <p:txBody>
          <a:bodyPr>
            <a:noAutofit/>
          </a:bodyPr>
          <a:lstStyle/>
          <a:p>
            <a:pPr algn="l"/>
            <a:r>
              <a:rPr lang="es-CL" b="1" dirty="0">
                <a:solidFill>
                  <a:schemeClr val="tx1"/>
                </a:solidFill>
              </a:rPr>
              <a:t>Simulación Final</a:t>
            </a:r>
          </a:p>
        </p:txBody>
      </p:sp>
      <p:sp>
        <p:nvSpPr>
          <p:cNvPr id="3" name="Marcador de contenido 2">
            <a:extLst>
              <a:ext uri="{FF2B5EF4-FFF2-40B4-BE49-F238E27FC236}">
                <a16:creationId xmlns:a16="http://schemas.microsoft.com/office/drawing/2014/main" id="{CD45E288-66BC-3467-8B92-4C02FAF7C5EA}"/>
              </a:ext>
            </a:extLst>
          </p:cNvPr>
          <p:cNvSpPr>
            <a:spLocks noGrp="1"/>
          </p:cNvSpPr>
          <p:nvPr>
            <p:ph idx="1"/>
          </p:nvPr>
        </p:nvSpPr>
        <p:spPr>
          <a:xfrm>
            <a:off x="403918" y="1287193"/>
            <a:ext cx="4788892" cy="5868518"/>
          </a:xfrm>
        </p:spPr>
        <p:txBody>
          <a:bodyPr>
            <a:normAutofit/>
          </a:bodyPr>
          <a:lstStyle/>
          <a:p>
            <a:pPr marL="36900" indent="0" algn="just">
              <a:buNone/>
            </a:pPr>
            <a:r>
              <a:rPr lang="es-CL" b="1" dirty="0">
                <a:solidFill>
                  <a:schemeClr val="tx1"/>
                </a:solidFill>
              </a:rPr>
              <a:t>Avance de la mejora en la trayectoria donde podemos ver un gran error en los primeros intentos, a un convergencia total con un error de seguimiento menor a 0.2 en el intento final (9 intentos).</a:t>
            </a:r>
          </a:p>
          <a:p>
            <a:pPr marL="36900" indent="0" algn="just">
              <a:buNone/>
            </a:pPr>
            <a:r>
              <a:rPr lang="es-MX" b="1" dirty="0">
                <a:solidFill>
                  <a:schemeClr val="tx1"/>
                </a:solidFill>
              </a:rPr>
              <a:t>Esta mejora se logró ajustando las matrices de peso y el horizonte de predicción para priorizar la precisión sobre el esfuerzo de los motores.</a:t>
            </a:r>
          </a:p>
          <a:p>
            <a:pPr marL="36900" indent="0" algn="just">
              <a:buNone/>
            </a:pPr>
            <a:r>
              <a:rPr lang="es-MX" b="1" dirty="0">
                <a:solidFill>
                  <a:schemeClr val="tx1"/>
                </a:solidFill>
              </a:rPr>
              <a:t>Al sintonizar las restricciones de velocidad, el sistema consiguió anticipar las curvas críticas de la mariposa, garantizando una convergencia estable y técnicamente viable para su ejecución en el hardware real.</a:t>
            </a:r>
            <a:endParaRPr lang="es-CL" b="1" dirty="0">
              <a:solidFill>
                <a:schemeClr val="tx1"/>
              </a:solidFill>
            </a:endParaRPr>
          </a:p>
        </p:txBody>
      </p:sp>
      <p:pic>
        <p:nvPicPr>
          <p:cNvPr id="5" name="Imagen 4">
            <a:extLst>
              <a:ext uri="{FF2B5EF4-FFF2-40B4-BE49-F238E27FC236}">
                <a16:creationId xmlns:a16="http://schemas.microsoft.com/office/drawing/2014/main" id="{139F44B9-946A-603C-2577-4D5E4C5D482A}"/>
              </a:ext>
            </a:extLst>
          </p:cNvPr>
          <p:cNvPicPr>
            <a:picLocks noChangeAspect="1"/>
          </p:cNvPicPr>
          <p:nvPr/>
        </p:nvPicPr>
        <p:blipFill>
          <a:blip r:embed="rId2"/>
          <a:srcRect t="5074"/>
          <a:stretch>
            <a:fillRect/>
          </a:stretch>
        </p:blipFill>
        <p:spPr>
          <a:xfrm>
            <a:off x="5435524" y="324449"/>
            <a:ext cx="3155534" cy="2984633"/>
          </a:xfrm>
          <a:prstGeom prst="rect">
            <a:avLst/>
          </a:prstGeom>
        </p:spPr>
      </p:pic>
      <p:pic>
        <p:nvPicPr>
          <p:cNvPr id="7" name="Imagen 6">
            <a:extLst>
              <a:ext uri="{FF2B5EF4-FFF2-40B4-BE49-F238E27FC236}">
                <a16:creationId xmlns:a16="http://schemas.microsoft.com/office/drawing/2014/main" id="{1CAD1E3D-4E86-F937-6C99-9151FE7E2D01}"/>
              </a:ext>
            </a:extLst>
          </p:cNvPr>
          <p:cNvPicPr>
            <a:picLocks noChangeAspect="1"/>
          </p:cNvPicPr>
          <p:nvPr/>
        </p:nvPicPr>
        <p:blipFill>
          <a:blip r:embed="rId3"/>
          <a:srcRect t="8958"/>
          <a:stretch>
            <a:fillRect/>
          </a:stretch>
        </p:blipFill>
        <p:spPr>
          <a:xfrm>
            <a:off x="8828521" y="324450"/>
            <a:ext cx="3150284" cy="2984633"/>
          </a:xfrm>
          <a:prstGeom prst="rect">
            <a:avLst/>
          </a:prstGeom>
        </p:spPr>
      </p:pic>
      <p:pic>
        <p:nvPicPr>
          <p:cNvPr id="9" name="Imagen 8">
            <a:extLst>
              <a:ext uri="{FF2B5EF4-FFF2-40B4-BE49-F238E27FC236}">
                <a16:creationId xmlns:a16="http://schemas.microsoft.com/office/drawing/2014/main" id="{5E922225-ACA6-614A-B4FB-351225CCA77A}"/>
              </a:ext>
            </a:extLst>
          </p:cNvPr>
          <p:cNvPicPr>
            <a:picLocks noChangeAspect="1"/>
          </p:cNvPicPr>
          <p:nvPr/>
        </p:nvPicPr>
        <p:blipFill>
          <a:blip r:embed="rId4"/>
          <a:stretch>
            <a:fillRect/>
          </a:stretch>
        </p:blipFill>
        <p:spPr>
          <a:xfrm>
            <a:off x="5435524" y="3548919"/>
            <a:ext cx="3150283" cy="2984632"/>
          </a:xfrm>
          <a:prstGeom prst="rect">
            <a:avLst/>
          </a:prstGeom>
        </p:spPr>
      </p:pic>
      <p:pic>
        <p:nvPicPr>
          <p:cNvPr id="11" name="Imagen 10">
            <a:extLst>
              <a:ext uri="{FF2B5EF4-FFF2-40B4-BE49-F238E27FC236}">
                <a16:creationId xmlns:a16="http://schemas.microsoft.com/office/drawing/2014/main" id="{A2781097-DD07-72F4-3D3E-DAEBE39D32BF}"/>
              </a:ext>
            </a:extLst>
          </p:cNvPr>
          <p:cNvPicPr>
            <a:picLocks noChangeAspect="1"/>
          </p:cNvPicPr>
          <p:nvPr/>
        </p:nvPicPr>
        <p:blipFill>
          <a:blip r:embed="rId5"/>
          <a:stretch>
            <a:fillRect/>
          </a:stretch>
        </p:blipFill>
        <p:spPr>
          <a:xfrm>
            <a:off x="8828521" y="3548919"/>
            <a:ext cx="3155534" cy="2984631"/>
          </a:xfrm>
          <a:prstGeom prst="rect">
            <a:avLst/>
          </a:prstGeom>
        </p:spPr>
      </p:pic>
    </p:spTree>
    <p:extLst>
      <p:ext uri="{BB962C8B-B14F-4D97-AF65-F5344CB8AC3E}">
        <p14:creationId xmlns:p14="http://schemas.microsoft.com/office/powerpoint/2010/main" val="33775546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9CC7BE8-BDAF-8C0F-1683-69AF95DA29BC}"/>
              </a:ext>
            </a:extLst>
          </p:cNvPr>
          <p:cNvPicPr>
            <a:picLocks noChangeAspect="1"/>
          </p:cNvPicPr>
          <p:nvPr/>
        </p:nvPicPr>
        <p:blipFill>
          <a:blip r:embed="rId3">
            <a:extLst>
              <a:ext uri="{28A0092B-C50C-407E-A947-70E740481C1C}">
                <a14:useLocalDpi xmlns:a14="http://schemas.microsoft.com/office/drawing/2010/main" val="0"/>
              </a:ext>
            </a:extLst>
          </a:blip>
          <a:srcRect l="5040" r="7737"/>
          <a:stretch>
            <a:fillRect/>
          </a:stretch>
        </p:blipFill>
        <p:spPr>
          <a:xfrm>
            <a:off x="6242039" y="3114206"/>
            <a:ext cx="5732610" cy="2824903"/>
          </a:xfrm>
          <a:prstGeom prst="rect">
            <a:avLst/>
          </a:prstGeom>
        </p:spPr>
      </p:pic>
      <p:pic>
        <p:nvPicPr>
          <p:cNvPr id="5" name="Marcador de contenido 4">
            <a:extLst>
              <a:ext uri="{FF2B5EF4-FFF2-40B4-BE49-F238E27FC236}">
                <a16:creationId xmlns:a16="http://schemas.microsoft.com/office/drawing/2014/main" id="{20F154A7-E801-C099-3511-F1E6A45C72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844" y="408432"/>
            <a:ext cx="5661285" cy="2566764"/>
          </a:xfrm>
          <a:prstGeom prst="rect">
            <a:avLst/>
          </a:prstGeom>
        </p:spPr>
      </p:pic>
      <p:pic>
        <p:nvPicPr>
          <p:cNvPr id="6" name="Imagen 5">
            <a:extLst>
              <a:ext uri="{FF2B5EF4-FFF2-40B4-BE49-F238E27FC236}">
                <a16:creationId xmlns:a16="http://schemas.microsoft.com/office/drawing/2014/main" id="{EFF78FAD-74BB-C0D1-1ED8-8F7EE2C1EB8C}"/>
              </a:ext>
            </a:extLst>
          </p:cNvPr>
          <p:cNvPicPr>
            <a:picLocks noChangeAspect="1"/>
          </p:cNvPicPr>
          <p:nvPr/>
        </p:nvPicPr>
        <p:blipFill>
          <a:blip r:embed="rId5">
            <a:extLst>
              <a:ext uri="{28A0092B-C50C-407E-A947-70E740481C1C}">
                <a14:useLocalDpi xmlns:a14="http://schemas.microsoft.com/office/drawing/2010/main" val="0"/>
              </a:ext>
            </a:extLst>
          </a:blip>
          <a:srcRect l="3605" r="6674"/>
          <a:stretch>
            <a:fillRect/>
          </a:stretch>
        </p:blipFill>
        <p:spPr>
          <a:xfrm>
            <a:off x="323845" y="3114205"/>
            <a:ext cx="5661285" cy="2824903"/>
          </a:xfrm>
          <a:prstGeom prst="rect">
            <a:avLst/>
          </a:prstGeom>
        </p:spPr>
      </p:pic>
      <p:pic>
        <p:nvPicPr>
          <p:cNvPr id="7" name="Imagen 6">
            <a:extLst>
              <a:ext uri="{FF2B5EF4-FFF2-40B4-BE49-F238E27FC236}">
                <a16:creationId xmlns:a16="http://schemas.microsoft.com/office/drawing/2014/main" id="{C2BD0464-800E-4699-0DA6-60F2A86E92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2039" y="408432"/>
            <a:ext cx="5732610" cy="2510110"/>
          </a:xfrm>
          <a:prstGeom prst="rect">
            <a:avLst/>
          </a:prstGeom>
        </p:spPr>
      </p:pic>
    </p:spTree>
    <p:extLst>
      <p:ext uri="{BB962C8B-B14F-4D97-AF65-F5344CB8AC3E}">
        <p14:creationId xmlns:p14="http://schemas.microsoft.com/office/powerpoint/2010/main" val="77570674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BCED5D-113B-1849-AAA8-CBA5E72A4882}"/>
              </a:ext>
            </a:extLst>
          </p:cNvPr>
          <p:cNvSpPr>
            <a:spLocks noGrp="1"/>
          </p:cNvSpPr>
          <p:nvPr>
            <p:ph type="title"/>
          </p:nvPr>
        </p:nvSpPr>
        <p:spPr>
          <a:xfrm>
            <a:off x="100253" y="510611"/>
            <a:ext cx="9057394" cy="655608"/>
          </a:xfrm>
        </p:spPr>
        <p:txBody>
          <a:bodyPr>
            <a:normAutofit fontScale="90000"/>
          </a:bodyPr>
          <a:lstStyle/>
          <a:p>
            <a:r>
              <a:rPr lang="es-CL" b="1" dirty="0">
                <a:solidFill>
                  <a:schemeClr val="tx1"/>
                </a:solidFill>
              </a:rPr>
              <a:t>HARDWARE - Implementación en ESP32</a:t>
            </a:r>
          </a:p>
        </p:txBody>
      </p:sp>
      <p:pic>
        <p:nvPicPr>
          <p:cNvPr id="5" name="Imagen 4">
            <a:extLst>
              <a:ext uri="{FF2B5EF4-FFF2-40B4-BE49-F238E27FC236}">
                <a16:creationId xmlns:a16="http://schemas.microsoft.com/office/drawing/2014/main" id="{63614C26-6AC8-C83C-45C0-8944E0517D0A}"/>
              </a:ext>
            </a:extLst>
          </p:cNvPr>
          <p:cNvPicPr>
            <a:picLocks noChangeAspect="1"/>
          </p:cNvPicPr>
          <p:nvPr/>
        </p:nvPicPr>
        <p:blipFill>
          <a:blip r:embed="rId2"/>
          <a:stretch>
            <a:fillRect/>
          </a:stretch>
        </p:blipFill>
        <p:spPr>
          <a:xfrm>
            <a:off x="8632986" y="1790145"/>
            <a:ext cx="3405602" cy="3140411"/>
          </a:xfrm>
          <a:prstGeom prst="rect">
            <a:avLst/>
          </a:prstGeom>
        </p:spPr>
      </p:pic>
      <p:sp>
        <p:nvSpPr>
          <p:cNvPr id="4" name="AutoShape 2">
            <a:extLst>
              <a:ext uri="{FF2B5EF4-FFF2-40B4-BE49-F238E27FC236}">
                <a16:creationId xmlns:a16="http://schemas.microsoft.com/office/drawing/2014/main" id="{4BD430D2-098E-64EA-14D3-88ED4544D644}"/>
              </a:ext>
            </a:extLst>
          </p:cNvPr>
          <p:cNvSpPr>
            <a:spLocks noGrp="1" noChangeAspect="1" noChangeArrowheads="1"/>
          </p:cNvSpPr>
          <p:nvPr>
            <p:ph idx="1"/>
          </p:nvPr>
        </p:nvSpPr>
        <p:spPr bwMode="auto">
          <a:xfrm>
            <a:off x="-45444" y="1973472"/>
            <a:ext cx="5918200" cy="57816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s-CL" b="1" dirty="0">
                <a:solidFill>
                  <a:schemeClr val="tx1"/>
                </a:solidFill>
              </a:rPr>
              <a:t>Para almacenar los datos de la trayectoria sin saturar la memoria de la ESP32 se utilizo PROGMEM</a:t>
            </a:r>
          </a:p>
          <a:p>
            <a:r>
              <a:rPr lang="es-CL" b="1" dirty="0">
                <a:solidFill>
                  <a:schemeClr val="tx1"/>
                </a:solidFill>
              </a:rPr>
              <a:t>Se forzó al sistema a exagerar la diferencia de velocidad entre ruedas, para obtener giros mas cerrados</a:t>
            </a:r>
          </a:p>
          <a:p>
            <a:r>
              <a:rPr lang="es-CL" b="1" dirty="0">
                <a:solidFill>
                  <a:schemeClr val="tx1"/>
                </a:solidFill>
              </a:rPr>
              <a:t>Se actualizo a Sintaxis LEDC debido a que la placa ESP32 en Arduino IDE elimino funciones antiguas</a:t>
            </a:r>
          </a:p>
          <a:p>
            <a:pPr marL="36900" indent="0">
              <a:buNone/>
            </a:pPr>
            <a:endParaRPr lang="es-CL" dirty="0"/>
          </a:p>
        </p:txBody>
      </p:sp>
      <p:sp>
        <p:nvSpPr>
          <p:cNvPr id="6" name="AutoShape 4">
            <a:extLst>
              <a:ext uri="{FF2B5EF4-FFF2-40B4-BE49-F238E27FC236}">
                <a16:creationId xmlns:a16="http://schemas.microsoft.com/office/drawing/2014/main" id="{CC12DE4C-7BF4-BE8D-C016-6828DA7183D9}"/>
              </a:ext>
            </a:extLst>
          </p:cNvPr>
          <p:cNvSpPr>
            <a:spLocks noChangeAspect="1" noChangeArrowheads="1"/>
          </p:cNvSpPr>
          <p:nvPr/>
        </p:nvSpPr>
        <p:spPr bwMode="auto">
          <a:xfrm>
            <a:off x="5943599" y="3276599"/>
            <a:ext cx="734683" cy="7346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pic>
        <p:nvPicPr>
          <p:cNvPr id="8" name="Imagen 7">
            <a:extLst>
              <a:ext uri="{FF2B5EF4-FFF2-40B4-BE49-F238E27FC236}">
                <a16:creationId xmlns:a16="http://schemas.microsoft.com/office/drawing/2014/main" id="{98101F6D-8DD7-7D1B-DF4E-04DCD71BFC18}"/>
              </a:ext>
            </a:extLst>
          </p:cNvPr>
          <p:cNvPicPr>
            <a:picLocks noChangeAspect="1"/>
          </p:cNvPicPr>
          <p:nvPr/>
        </p:nvPicPr>
        <p:blipFill>
          <a:blip r:embed="rId3"/>
          <a:stretch>
            <a:fillRect/>
          </a:stretch>
        </p:blipFill>
        <p:spPr>
          <a:xfrm>
            <a:off x="5872756" y="1790145"/>
            <a:ext cx="2551716" cy="4216242"/>
          </a:xfrm>
          <a:prstGeom prst="rect">
            <a:avLst/>
          </a:prstGeom>
        </p:spPr>
      </p:pic>
    </p:spTree>
    <p:extLst>
      <p:ext uri="{BB962C8B-B14F-4D97-AF65-F5344CB8AC3E}">
        <p14:creationId xmlns:p14="http://schemas.microsoft.com/office/powerpoint/2010/main" val="6237077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Programación de un ESP32 NodeMCU con el IDE de Arduino • AranaCorp">
            <a:extLst>
              <a:ext uri="{FF2B5EF4-FFF2-40B4-BE49-F238E27FC236}">
                <a16:creationId xmlns:a16="http://schemas.microsoft.com/office/drawing/2014/main" id="{2EE00008-F327-04E8-E4EC-B19E9B019CFF}"/>
              </a:ext>
            </a:extLst>
          </p:cNvPr>
          <p:cNvPicPr>
            <a:picLocks noChangeAspect="1"/>
          </p:cNvPicPr>
          <p:nvPr/>
        </p:nvPicPr>
        <p:blipFill>
          <a:blip r:embed="rId3"/>
          <a:stretch>
            <a:fillRect/>
          </a:stretch>
        </p:blipFill>
        <p:spPr>
          <a:xfrm>
            <a:off x="375224" y="1515893"/>
            <a:ext cx="2143125" cy="2143125"/>
          </a:xfrm>
          <a:prstGeom prst="rect">
            <a:avLst/>
          </a:prstGeom>
        </p:spPr>
      </p:pic>
      <p:pic>
        <p:nvPicPr>
          <p:cNvPr id="5" name="Imagen 4" descr="Motor Gear DC Caja Reductora Motorreductor | MCI Electronics.cl">
            <a:extLst>
              <a:ext uri="{FF2B5EF4-FFF2-40B4-BE49-F238E27FC236}">
                <a16:creationId xmlns:a16="http://schemas.microsoft.com/office/drawing/2014/main" id="{BD9B8DE1-83C8-7540-D3BD-831734EDCE37}"/>
              </a:ext>
            </a:extLst>
          </p:cNvPr>
          <p:cNvPicPr>
            <a:picLocks noChangeAspect="1"/>
          </p:cNvPicPr>
          <p:nvPr/>
        </p:nvPicPr>
        <p:blipFill>
          <a:blip r:embed="rId4"/>
          <a:stretch>
            <a:fillRect/>
          </a:stretch>
        </p:blipFill>
        <p:spPr>
          <a:xfrm>
            <a:off x="5024437" y="1533670"/>
            <a:ext cx="2143125" cy="2143125"/>
          </a:xfrm>
          <a:prstGeom prst="rect">
            <a:avLst/>
          </a:prstGeom>
        </p:spPr>
      </p:pic>
      <p:pic>
        <p:nvPicPr>
          <p:cNvPr id="6" name="Imagen 5" descr="Módulo Driver L298N Puente H | Controlador Motores DC Y PAP">
            <a:extLst>
              <a:ext uri="{FF2B5EF4-FFF2-40B4-BE49-F238E27FC236}">
                <a16:creationId xmlns:a16="http://schemas.microsoft.com/office/drawing/2014/main" id="{74539CF0-99D6-3158-AFA9-5021002C5299}"/>
              </a:ext>
            </a:extLst>
          </p:cNvPr>
          <p:cNvPicPr>
            <a:picLocks noChangeAspect="1"/>
          </p:cNvPicPr>
          <p:nvPr/>
        </p:nvPicPr>
        <p:blipFill>
          <a:blip r:embed="rId5"/>
          <a:stretch>
            <a:fillRect/>
          </a:stretch>
        </p:blipFill>
        <p:spPr>
          <a:xfrm>
            <a:off x="2649766" y="1515892"/>
            <a:ext cx="2193190" cy="2143125"/>
          </a:xfrm>
          <a:prstGeom prst="rect">
            <a:avLst/>
          </a:prstGeom>
        </p:spPr>
      </p:pic>
      <p:pic>
        <p:nvPicPr>
          <p:cNvPr id="7" name="Imagen 6" descr="Rueda loca » IMPORTADORA PATZITEC">
            <a:extLst>
              <a:ext uri="{FF2B5EF4-FFF2-40B4-BE49-F238E27FC236}">
                <a16:creationId xmlns:a16="http://schemas.microsoft.com/office/drawing/2014/main" id="{35C70555-DDE5-2130-5248-5840125ED54A}"/>
              </a:ext>
            </a:extLst>
          </p:cNvPr>
          <p:cNvPicPr>
            <a:picLocks noChangeAspect="1"/>
          </p:cNvPicPr>
          <p:nvPr/>
        </p:nvPicPr>
        <p:blipFill>
          <a:blip r:embed="rId6"/>
          <a:stretch>
            <a:fillRect/>
          </a:stretch>
        </p:blipFill>
        <p:spPr>
          <a:xfrm>
            <a:off x="350687" y="3890889"/>
            <a:ext cx="2160902" cy="2160902"/>
          </a:xfrm>
          <a:prstGeom prst="rect">
            <a:avLst/>
          </a:prstGeom>
        </p:spPr>
      </p:pic>
      <p:pic>
        <p:nvPicPr>
          <p:cNvPr id="8" name="Imagen 7" descr="RUEDA PARA MOTOR ARDUINO – venta de suministros, componentes, herramientas  y accesorios electrónicos para instrumentación, automatización,  semiconductores, conectividad industrial, telecomunicaciones y militar.">
            <a:extLst>
              <a:ext uri="{FF2B5EF4-FFF2-40B4-BE49-F238E27FC236}">
                <a16:creationId xmlns:a16="http://schemas.microsoft.com/office/drawing/2014/main" id="{CBBE024E-3B3E-34A7-C761-899EC4C2EA06}"/>
              </a:ext>
            </a:extLst>
          </p:cNvPr>
          <p:cNvPicPr>
            <a:picLocks noChangeAspect="1"/>
          </p:cNvPicPr>
          <p:nvPr/>
        </p:nvPicPr>
        <p:blipFill>
          <a:blip r:embed="rId7"/>
          <a:stretch>
            <a:fillRect/>
          </a:stretch>
        </p:blipFill>
        <p:spPr>
          <a:xfrm>
            <a:off x="7298978" y="1533670"/>
            <a:ext cx="2143125" cy="2143125"/>
          </a:xfrm>
          <a:prstGeom prst="rect">
            <a:avLst/>
          </a:prstGeom>
        </p:spPr>
      </p:pic>
      <p:pic>
        <p:nvPicPr>
          <p:cNvPr id="9" name="Imagen 8" descr="Pilas Duracell AA (Unidad)">
            <a:extLst>
              <a:ext uri="{FF2B5EF4-FFF2-40B4-BE49-F238E27FC236}">
                <a16:creationId xmlns:a16="http://schemas.microsoft.com/office/drawing/2014/main" id="{13851071-497E-DF05-67BB-2895D5BE0903}"/>
              </a:ext>
            </a:extLst>
          </p:cNvPr>
          <p:cNvPicPr>
            <a:picLocks noChangeAspect="1"/>
          </p:cNvPicPr>
          <p:nvPr/>
        </p:nvPicPr>
        <p:blipFill>
          <a:blip r:embed="rId8"/>
          <a:stretch>
            <a:fillRect/>
          </a:stretch>
        </p:blipFill>
        <p:spPr>
          <a:xfrm>
            <a:off x="7329669" y="3890888"/>
            <a:ext cx="2143125" cy="2143125"/>
          </a:xfrm>
          <a:prstGeom prst="rect">
            <a:avLst/>
          </a:prstGeom>
        </p:spPr>
      </p:pic>
      <p:pic>
        <p:nvPicPr>
          <p:cNvPr id="10" name="Imagen 9" descr="CHASIS AUTO ROBOT SMART CAR GENERICO 2 RUEDAS MOTOR ⋆ Starware">
            <a:extLst>
              <a:ext uri="{FF2B5EF4-FFF2-40B4-BE49-F238E27FC236}">
                <a16:creationId xmlns:a16="http://schemas.microsoft.com/office/drawing/2014/main" id="{4BB5C0D2-DFAB-29E8-40A1-38F0074C167E}"/>
              </a:ext>
            </a:extLst>
          </p:cNvPr>
          <p:cNvPicPr>
            <a:picLocks noChangeAspect="1"/>
          </p:cNvPicPr>
          <p:nvPr/>
        </p:nvPicPr>
        <p:blipFill>
          <a:blip r:embed="rId9"/>
          <a:stretch>
            <a:fillRect/>
          </a:stretch>
        </p:blipFill>
        <p:spPr>
          <a:xfrm>
            <a:off x="2685077" y="3890889"/>
            <a:ext cx="2143125" cy="2143125"/>
          </a:xfrm>
          <a:prstGeom prst="rect">
            <a:avLst/>
          </a:prstGeom>
        </p:spPr>
      </p:pic>
      <p:pic>
        <p:nvPicPr>
          <p:cNvPr id="11" name="Imagen 10" descr="Cables protoboard o arduino M-M 10cm (10und) - DynamoElectronics">
            <a:extLst>
              <a:ext uri="{FF2B5EF4-FFF2-40B4-BE49-F238E27FC236}">
                <a16:creationId xmlns:a16="http://schemas.microsoft.com/office/drawing/2014/main" id="{013F0D98-5BB7-D958-D8C4-46E3B6D3B1CD}"/>
              </a:ext>
            </a:extLst>
          </p:cNvPr>
          <p:cNvPicPr>
            <a:picLocks noChangeAspect="1"/>
          </p:cNvPicPr>
          <p:nvPr/>
        </p:nvPicPr>
        <p:blipFill>
          <a:blip r:embed="rId10"/>
          <a:stretch>
            <a:fillRect/>
          </a:stretch>
        </p:blipFill>
        <p:spPr>
          <a:xfrm>
            <a:off x="5024438" y="3890889"/>
            <a:ext cx="2143125" cy="2143125"/>
          </a:xfrm>
          <a:prstGeom prst="rect">
            <a:avLst/>
          </a:prstGeom>
        </p:spPr>
      </p:pic>
      <p:pic>
        <p:nvPicPr>
          <p:cNvPr id="1026" name="Picture 2" descr="Mini Protoboard con Autoadhesivo - Blanco 170pts | MCI Electronics.cl">
            <a:extLst>
              <a:ext uri="{FF2B5EF4-FFF2-40B4-BE49-F238E27FC236}">
                <a16:creationId xmlns:a16="http://schemas.microsoft.com/office/drawing/2014/main" id="{47C81D65-B910-B293-457B-EDECB92C220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73653" y="153367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rso de Arduino – Interruptores, pulsadores, conmutadores y relés  utilizados en electrónica | Felix Maocho">
            <a:extLst>
              <a:ext uri="{FF2B5EF4-FFF2-40B4-BE49-F238E27FC236}">
                <a16:creationId xmlns:a16="http://schemas.microsoft.com/office/drawing/2014/main" id="{F92D92DE-7D31-02AB-E8D4-9D494A691A9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34900" y="3890888"/>
            <a:ext cx="2181878" cy="2160901"/>
          </a:xfrm>
          <a:prstGeom prst="rect">
            <a:avLst/>
          </a:prstGeom>
          <a:noFill/>
          <a:extLst>
            <a:ext uri="{909E8E84-426E-40DD-AFC4-6F175D3DCCD1}">
              <a14:hiddenFill xmlns:a14="http://schemas.microsoft.com/office/drawing/2010/main">
                <a:solidFill>
                  <a:srgbClr val="FFFFFF"/>
                </a:solidFill>
              </a14:hiddenFill>
            </a:ext>
          </a:extLst>
        </p:spPr>
      </p:pic>
      <p:sp>
        <p:nvSpPr>
          <p:cNvPr id="12" name="Título 1">
            <a:extLst>
              <a:ext uri="{FF2B5EF4-FFF2-40B4-BE49-F238E27FC236}">
                <a16:creationId xmlns:a16="http://schemas.microsoft.com/office/drawing/2014/main" id="{8A819A8B-08C0-E46B-147B-6D701233AB5C}"/>
              </a:ext>
            </a:extLst>
          </p:cNvPr>
          <p:cNvSpPr>
            <a:spLocks noGrp="1"/>
          </p:cNvSpPr>
          <p:nvPr>
            <p:ph type="title"/>
          </p:nvPr>
        </p:nvSpPr>
        <p:spPr>
          <a:xfrm>
            <a:off x="350687" y="496182"/>
            <a:ext cx="5636525" cy="655608"/>
          </a:xfrm>
        </p:spPr>
        <p:txBody>
          <a:bodyPr>
            <a:normAutofit fontScale="90000"/>
          </a:bodyPr>
          <a:lstStyle/>
          <a:p>
            <a:pPr algn="l"/>
            <a:r>
              <a:rPr lang="es-CL" b="1" dirty="0">
                <a:solidFill>
                  <a:schemeClr val="tx1"/>
                </a:solidFill>
              </a:rPr>
              <a:t>Componentes del robot</a:t>
            </a:r>
          </a:p>
        </p:txBody>
      </p:sp>
    </p:spTree>
    <p:extLst>
      <p:ext uri="{BB962C8B-B14F-4D97-AF65-F5344CB8AC3E}">
        <p14:creationId xmlns:p14="http://schemas.microsoft.com/office/powerpoint/2010/main" val="36678826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2868E2-6C13-476F-ABB0-997FF64EE783}"/>
              </a:ext>
            </a:extLst>
          </p:cNvPr>
          <p:cNvSpPr>
            <a:spLocks noGrp="1"/>
          </p:cNvSpPr>
          <p:nvPr>
            <p:ph type="title"/>
          </p:nvPr>
        </p:nvSpPr>
        <p:spPr>
          <a:xfrm>
            <a:off x="226817" y="-137936"/>
            <a:ext cx="6018663" cy="970450"/>
          </a:xfrm>
        </p:spPr>
        <p:txBody>
          <a:bodyPr/>
          <a:lstStyle/>
          <a:p>
            <a:pPr algn="l"/>
            <a:r>
              <a:rPr lang="es-CL" b="1" dirty="0">
                <a:solidFill>
                  <a:schemeClr val="tx1"/>
                </a:solidFill>
              </a:rPr>
              <a:t>Resultados finales</a:t>
            </a:r>
          </a:p>
        </p:txBody>
      </p:sp>
      <p:pic>
        <p:nvPicPr>
          <p:cNvPr id="5" name="Marcador de contenido 4">
            <a:extLst>
              <a:ext uri="{FF2B5EF4-FFF2-40B4-BE49-F238E27FC236}">
                <a16:creationId xmlns:a16="http://schemas.microsoft.com/office/drawing/2014/main" id="{A6F4022A-749D-3701-967E-8C7341B6319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47" y="805218"/>
            <a:ext cx="12591246" cy="6037530"/>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419939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D0FD6A-7688-85FA-B941-7A7125A0390B}"/>
              </a:ext>
            </a:extLst>
          </p:cNvPr>
          <p:cNvSpPr>
            <a:spLocks noGrp="1"/>
          </p:cNvSpPr>
          <p:nvPr>
            <p:ph type="title"/>
          </p:nvPr>
        </p:nvSpPr>
        <p:spPr/>
        <p:txBody>
          <a:bodyPr/>
          <a:lstStyle/>
          <a:p>
            <a:endParaRPr lang="es-CL" dirty="0"/>
          </a:p>
        </p:txBody>
      </p:sp>
      <p:pic>
        <p:nvPicPr>
          <p:cNvPr id="5" name="Marcador de contenido 4">
            <a:extLst>
              <a:ext uri="{FF2B5EF4-FFF2-40B4-BE49-F238E27FC236}">
                <a16:creationId xmlns:a16="http://schemas.microsoft.com/office/drawing/2014/main" id="{D19CDB6F-702E-FB6E-B428-F402B49B0B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238" y="392605"/>
            <a:ext cx="12212238" cy="5855795"/>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2400294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145C98-3CC5-FEE9-798B-A236E181731E}"/>
              </a:ext>
            </a:extLst>
          </p:cNvPr>
          <p:cNvSpPr>
            <a:spLocks noGrp="1"/>
          </p:cNvSpPr>
          <p:nvPr>
            <p:ph type="title"/>
          </p:nvPr>
        </p:nvSpPr>
        <p:spPr/>
        <p:txBody>
          <a:bodyPr/>
          <a:lstStyle/>
          <a:p>
            <a:endParaRPr lang="es-CL" dirty="0"/>
          </a:p>
        </p:txBody>
      </p:sp>
      <p:pic>
        <p:nvPicPr>
          <p:cNvPr id="5" name="Marcador de contenido 4">
            <a:extLst>
              <a:ext uri="{FF2B5EF4-FFF2-40B4-BE49-F238E27FC236}">
                <a16:creationId xmlns:a16="http://schemas.microsoft.com/office/drawing/2014/main" id="{23E242BA-4509-62A1-3970-BDB023488B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359" y="609600"/>
            <a:ext cx="12580359" cy="6032310"/>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60571887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E84373-E0A2-24AE-5D2B-6F7809C4884A}"/>
              </a:ext>
            </a:extLst>
          </p:cNvPr>
          <p:cNvSpPr>
            <a:spLocks noGrp="1"/>
          </p:cNvSpPr>
          <p:nvPr>
            <p:ph type="title"/>
          </p:nvPr>
        </p:nvSpPr>
        <p:spPr/>
        <p:txBody>
          <a:bodyPr/>
          <a:lstStyle/>
          <a:p>
            <a:pPr algn="l"/>
            <a:r>
              <a:rPr lang="es-CL" b="1" dirty="0">
                <a:solidFill>
                  <a:schemeClr val="tx1"/>
                </a:solidFill>
              </a:rPr>
              <a:t>Conclusiones generales</a:t>
            </a:r>
          </a:p>
        </p:txBody>
      </p:sp>
      <p:sp>
        <p:nvSpPr>
          <p:cNvPr id="3" name="Marcador de contenido 2">
            <a:extLst>
              <a:ext uri="{FF2B5EF4-FFF2-40B4-BE49-F238E27FC236}">
                <a16:creationId xmlns:a16="http://schemas.microsoft.com/office/drawing/2014/main" id="{F7C10153-EF1C-27B8-C1C0-C859B8361EC8}"/>
              </a:ext>
            </a:extLst>
          </p:cNvPr>
          <p:cNvSpPr>
            <a:spLocks noGrp="1"/>
          </p:cNvSpPr>
          <p:nvPr>
            <p:ph idx="1"/>
          </p:nvPr>
        </p:nvSpPr>
        <p:spPr>
          <a:xfrm>
            <a:off x="913794" y="1732450"/>
            <a:ext cx="10536677" cy="4736590"/>
          </a:xfrm>
        </p:spPr>
        <p:txBody>
          <a:bodyPr/>
          <a:lstStyle/>
          <a:p>
            <a:pPr marL="36900" indent="0" algn="just">
              <a:buNone/>
            </a:pPr>
            <a:r>
              <a:rPr lang="es-MX" b="1" dirty="0">
                <a:solidFill>
                  <a:schemeClr val="tx1"/>
                </a:solidFill>
                <a:effectLst/>
              </a:rPr>
              <a:t>Nuestro diseño e implementación de un sistema de control predictivo basado en modelo (MPC) logró que un robot diferencial siguiera una trayectoria de mariposa, integrando una fase de simulación en Python con la ejecución física en un microcontrolador ESP32.</a:t>
            </a:r>
          </a:p>
          <a:p>
            <a:pPr marL="36900" indent="0" algn="just">
              <a:buNone/>
            </a:pPr>
            <a:r>
              <a:rPr lang="es-MX" b="1" dirty="0">
                <a:solidFill>
                  <a:schemeClr val="tx1"/>
                </a:solidFill>
                <a:effectLst/>
              </a:rPr>
              <a:t>Tras optimizar el modelo matemático mediante el ajuste de las funciones de costo y las restricciones de velocidad, se procedió a una etapa de calibración en hardware para resolver desafíos críticos como la fricción estática, la caída de voltaje y la asimetría de los motores.</a:t>
            </a:r>
          </a:p>
          <a:p>
            <a:pPr marL="36900" indent="0" algn="just">
              <a:buNone/>
            </a:pPr>
            <a:r>
              <a:rPr lang="es-MX" b="1" dirty="0">
                <a:solidFill>
                  <a:schemeClr val="tx1"/>
                </a:solidFill>
                <a:effectLst/>
              </a:rPr>
              <a:t> Mediante el uso de un ancho de vía virtual y una gestión de potencia adaptativa para compensar la zona muerta de los motores, se logró una precisión de seguimiento con un error euclidiano promedio de aproximadamente 2.5 cm , validando la robustez del controlador al replicar con éxito la trayectoria maestra en un entorno real. </a:t>
            </a:r>
            <a:endParaRPr lang="es-CL" b="1" dirty="0">
              <a:solidFill>
                <a:schemeClr val="tx1"/>
              </a:solidFill>
            </a:endParaRPr>
          </a:p>
        </p:txBody>
      </p:sp>
    </p:spTree>
    <p:extLst>
      <p:ext uri="{BB962C8B-B14F-4D97-AF65-F5344CB8AC3E}">
        <p14:creationId xmlns:p14="http://schemas.microsoft.com/office/powerpoint/2010/main" val="31213168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zarra">
  <a:themeElements>
    <a:clrScheme name="Pizarra">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Pizarr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izarr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TM04033929[[fn=Pizarra]]</Template>
  <TotalTime>364</TotalTime>
  <Words>543</Words>
  <Application>Microsoft Office PowerPoint</Application>
  <PresentationFormat>Panorámica</PresentationFormat>
  <Paragraphs>42</Paragraphs>
  <Slides>15</Slides>
  <Notes>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Aptos</vt:lpstr>
      <vt:lpstr>Calisto MT</vt:lpstr>
      <vt:lpstr>Wingdings 2</vt:lpstr>
      <vt:lpstr>Pizarra</vt:lpstr>
      <vt:lpstr>Vehículo MPC</vt:lpstr>
      <vt:lpstr>Introducción y desarrollo</vt:lpstr>
      <vt:lpstr>Ecuaciones y modelamiento matemático</vt:lpstr>
      <vt:lpstr>Presentación de PowerPoint</vt:lpstr>
      <vt:lpstr>Tabla de resultados</vt:lpstr>
      <vt:lpstr>Simulación Inicial con Python</vt:lpstr>
      <vt:lpstr>Presentación de PowerPoint</vt:lpstr>
      <vt:lpstr>Simulación Final</vt:lpstr>
      <vt:lpstr>Presentación de PowerPoint</vt:lpstr>
      <vt:lpstr>HARDWARE - Implementación en ESP32</vt:lpstr>
      <vt:lpstr>Componentes del robot</vt:lpstr>
      <vt:lpstr>Resultados finales</vt:lpstr>
      <vt:lpstr>Presentación de PowerPoint</vt:lpstr>
      <vt:lpstr>Presentación de PowerPoint</vt:lpstr>
      <vt:lpstr>Conclusiones generales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PIZARRO GUTIÉRREZ FRANCO J</dc:creator>
  <cp:lastModifiedBy>ESPER CHOCANO JORGE R</cp:lastModifiedBy>
  <cp:revision>16</cp:revision>
  <dcterms:created xsi:type="dcterms:W3CDTF">2026-04-28T22:19:51Z</dcterms:created>
  <dcterms:modified xsi:type="dcterms:W3CDTF">2026-04-29T06:15:38Z</dcterms:modified>
</cp:coreProperties>
</file>